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926080" cy="45720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22A4A"/>
                </a:solidFill>
                <a:latin typeface="微软雅黑"/>
              </a:rPr>
              <a:t>数据科学导论 · DSP-10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微软雅黑"/>
              </a:rPr>
              <a:t>岗位薪资预测数据分析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9FD3E8"/>
                </a:solidFill>
                <a:latin typeface="微软雅黑"/>
              </a:rPr>
              <a:t>数据采集、处理、分析与可视化实验报告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2194560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B9C4D0"/>
                </a:solidFill>
                <a:latin typeface="微软雅黑"/>
              </a:rPr>
              <a:t>250,000 条样本 · 10 个字段 · 全流程 EDA 与机器学习分析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C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B9C4D0"/>
                </a:solidFill>
                <a:latin typeface="微软雅黑"/>
              </a:rPr>
              <a:t>课程：数据科学导论      实验编号：DSP-10      提交日期：2026年4月30日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汇报大纲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5120640" cy="960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914400" cy="96012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54480"/>
            <a:ext cx="3931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23344"/>
                </a:solidFill>
                <a:latin typeface="微软雅黑"/>
              </a:rPr>
              <a:t>问题背景与研究目标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54480"/>
            <a:ext cx="5120640" cy="960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554480"/>
            <a:ext cx="914400" cy="960120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554480"/>
            <a:ext cx="3931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23344"/>
                </a:solidFill>
                <a:latin typeface="微软雅黑"/>
              </a:rPr>
              <a:t>数据来源与字段说明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34640"/>
            <a:ext cx="5120640" cy="960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834640"/>
            <a:ext cx="914400" cy="96012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34640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834640"/>
            <a:ext cx="3931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23344"/>
                </a:solidFill>
                <a:latin typeface="微软雅黑"/>
              </a:rPr>
              <a:t>数据清洗与预处理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834640"/>
            <a:ext cx="5120640" cy="960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2834640"/>
            <a:ext cx="914400" cy="960120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834640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834640"/>
            <a:ext cx="3931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23344"/>
                </a:solidFill>
                <a:latin typeface="微软雅黑"/>
              </a:rPr>
              <a:t>描述性统计分析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114800"/>
            <a:ext cx="5120640" cy="960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114800"/>
            <a:ext cx="914400" cy="96012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14800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114800"/>
            <a:ext cx="3931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23344"/>
                </a:solidFill>
                <a:latin typeface="微软雅黑"/>
              </a:rPr>
              <a:t>分组对比分析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114800"/>
            <a:ext cx="5120640" cy="960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4114800"/>
            <a:ext cx="914400" cy="960120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14800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114800"/>
            <a:ext cx="3931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23344"/>
                </a:solidFill>
                <a:latin typeface="微软雅黑"/>
              </a:rPr>
              <a:t>相关性分析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394960"/>
            <a:ext cx="5120640" cy="960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5394960"/>
            <a:ext cx="914400" cy="96012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394960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394960"/>
            <a:ext cx="3931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23344"/>
                </a:solidFill>
                <a:latin typeface="微软雅黑"/>
              </a:rPr>
              <a:t>深度洞察与特征重要性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394960"/>
            <a:ext cx="5120640" cy="960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5394960"/>
            <a:ext cx="914400" cy="960120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394960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394960"/>
            <a:ext cx="3931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23344"/>
                </a:solidFill>
                <a:latin typeface="微软雅黑"/>
              </a:rPr>
              <a:t>结论与反思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问题背景与研究目标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一、问题背景与目标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E6CB5"/>
                </a:solidFill>
                <a:latin typeface="微软雅黑"/>
              </a:rPr>
              <a:t>研究背景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AI 工程师、数据科学家、云计算工程师等新兴技术岗位成为就业热点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岗位、学历、经验、公司规模、地区之间薪资差异日益明显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厘清薪资差异的驱动因素，对个人职业规划与求职决策具有重要参考价值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E6CB5"/>
                </a:solidFill>
                <a:latin typeface="微软雅黑"/>
              </a:rPr>
              <a:t>六大分析目标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数据质量检查：完整性、唯一性、一致性与异常值检测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描述性统计：均值、中位数、标准差、偏度、峰度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分组对比：按岗位、学历、规模、行业、地区、办公方式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相关性分析：量化各因素与薪资的关系强度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深度洞察：随机森林重要性评估 + KS 检验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可视化呈现：多维度、多类型图表直观展示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核心研究问题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1.3 三个核心问题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10515600" cy="13716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1463040" cy="137160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14630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69164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223344"/>
                </a:solidFill>
                <a:latin typeface="微软雅黑"/>
              </a:rPr>
              <a:t>哪些因素对薪资的影响最大？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28600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C6B7A"/>
                </a:solidFill>
                <a:latin typeface="微软雅黑"/>
              </a:rPr>
              <a:t>识别薪资的核心驱动因素及其相对重要性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108960"/>
            <a:ext cx="10515600" cy="13716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108960"/>
            <a:ext cx="1463040" cy="1371600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14630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29184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223344"/>
                </a:solidFill>
                <a:latin typeface="微软雅黑"/>
              </a:rPr>
              <a:t>不同学历水平的薪资差异是否显著？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88620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C6B7A"/>
                </a:solidFill>
                <a:latin typeface="微软雅黑"/>
              </a:rPr>
              <a:t>通过 KS 检验验证学历间薪资分布差异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09160"/>
            <a:ext cx="10515600" cy="13716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709160"/>
            <a:ext cx="1463040" cy="137160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4630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89204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223344"/>
                </a:solidFill>
                <a:latin typeface="微软雅黑"/>
              </a:rPr>
              <a:t>高薪与低薪群体在经验/技能/证书上有何不同？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48640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C6B7A"/>
                </a:solidFill>
                <a:latin typeface="微软雅黑"/>
              </a:rPr>
              <a:t>对比 Q1 与 Q4 群体的特征分水岭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数据来源与规模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二、数据来源与采集过程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2468880" cy="13716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91440" cy="137160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27048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14A09A"/>
                </a:solidFill>
                <a:latin typeface="微软雅黑"/>
              </a:rPr>
              <a:t>250,000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/>
              </a:rPr>
              <a:t>样本数量（条）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417320"/>
            <a:ext cx="2468880" cy="13716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417320"/>
            <a:ext cx="91440" cy="1371600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27048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2E6CB5"/>
                </a:solidFill>
                <a:latin typeface="微软雅黑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3317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/>
              </a:rPr>
              <a:t>字段数量（个）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2468880" cy="13716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91440" cy="137160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27048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E7A61A"/>
                </a:solidFill>
                <a:latin typeface="微软雅黑"/>
              </a:rPr>
              <a:t>17.14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3317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/>
              </a:rPr>
              <a:t>文件大小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1417320"/>
            <a:ext cx="2423160" cy="13716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1417320"/>
            <a:ext cx="91440" cy="137160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527048"/>
            <a:ext cx="2423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14A09A"/>
                </a:solidFill>
                <a:latin typeface="微软雅黑"/>
              </a:rPr>
              <a:t>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331720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/>
              </a:rPr>
              <a:t>数据格式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E6CB5"/>
                </a:solidFill>
                <a:latin typeface="微软雅黑"/>
              </a:rPr>
              <a:t>数据来源与采集方式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公开数据平台：Kaggle《Job Salary Prediction Dataset》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Hugging Face 镜像：jason1966/algozee_employee-salary-prediction-dataset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面向岗位薪资预测、探索性数据分析（EDA）与机器学习练习场景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直接下载 CSV，导入本地 Python（Pandas）环境进行分析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经比对，本地文件与公开页面在字段定义、样本量、样例记录上完全一致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字段说明（10 个字段）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2.3 字段定义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4711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07"/>
                <a:gridCol w="2122098"/>
                <a:gridCol w="2334307"/>
                <a:gridCol w="4456406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字段名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含义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数据类型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取值范围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job_title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岗位名称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分类（12类）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AI Engineer, Data Analyst 等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experience_years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工作经验年限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数值（整数）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0 ~ 20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education_level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学历水平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有序分类（5类）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High School → PhD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skills_count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技能数量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数值（整数）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 ~ 19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industry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所属行业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分类（10类）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Healthcare, Finance 等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company_size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公司规模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有序分类（5类）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Startup → Enterprise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location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工作地点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分类（10类）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USA, Canada, India 等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remote_work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远程办公方式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有序分类（3类）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No, Hybrid, Yes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certifications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证书数量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数值（整数）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0 ~ 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salary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薪资水平（目标）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数值（连续）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31,867 ~ 333,046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数据清洗与预处理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三、数据清洗与预处理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2E6CB5"/>
                </a:solidFill>
                <a:latin typeface="微软雅黑"/>
              </a:rPr>
              <a:t>质量检查结果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缺失值：全部 10 个字段缺失均为 0，完整性良好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重复值：25 万条记录无完全重复行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异常值（IQR 法）：检出 2,336 个，占 0.93%</a:t>
            </a:r>
          </a:p>
          <a:p>
            <a:pPr lvl="1">
              <a:lnSpc>
                <a:spcPct val="110000"/>
              </a:lnSpc>
              <a:spcAft>
                <a:spcPts val="1100"/>
              </a:spcAft>
            </a:pPr>
            <a:r>
              <a:rPr sz="1200">
                <a:solidFill>
                  <a:srgbClr val="E7A61A"/>
                </a:solidFill>
                <a:latin typeface="微软雅黑"/>
              </a:rPr>
              <a:t>– </a:t>
            </a:r>
            <a:r>
              <a:rPr sz="1300" b="0">
                <a:solidFill>
                  <a:srgbClr val="5C6B7A"/>
                </a:solidFill>
                <a:latin typeface="微软雅黑"/>
              </a:rPr>
              <a:t>异常值多为 PhD/Master + 高经验 + 大企业 + AI 岗，业务合理 → 予以保留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2E6CB5"/>
                </a:solidFill>
                <a:latin typeface="微软雅黑"/>
              </a:rPr>
              <a:t>IQR 异常值边界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Q1=119,358  Q3=169,492  IQR=50,134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下界=44,157  上界=244,693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2E6CB5"/>
                </a:solidFill>
                <a:latin typeface="微软雅黑"/>
              </a:rPr>
              <a:t>特征工程：新增 5 个派生字段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1737360"/>
          <a:ext cx="5394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56616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新字段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构造方式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edu_code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学历编码 1~5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size_code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公司规模编码 1~5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remote_code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办公方式编码 0~2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talent_score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0.35经验+0.35技能+0.30证书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exp_group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经验分组 入门→专家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描述性统计：薪资分布特征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4.1 描述性统计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2514600" cy="12344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91440" cy="1234440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2E6CB5"/>
                </a:solidFill>
                <a:latin typeface="微软雅黑"/>
              </a:rPr>
              <a:t>145,718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/>
              </a:rPr>
              <a:t>均值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371600"/>
            <a:ext cx="2514600" cy="12344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371600"/>
            <a:ext cx="91440" cy="123444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481328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14A09A"/>
                </a:solidFill>
                <a:latin typeface="微软雅黑"/>
              </a:rPr>
              <a:t>143,453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4884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/>
              </a:rPr>
              <a:t>中位数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514600" cy="12344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91440" cy="123444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81328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E7A61A"/>
                </a:solidFill>
                <a:latin typeface="微软雅黑"/>
              </a:rPr>
              <a:t>37,408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4884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/>
              </a:rPr>
              <a:t>标准差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1371600"/>
            <a:ext cx="2423160" cy="12344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1371600"/>
            <a:ext cx="91440" cy="1234440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481328"/>
            <a:ext cx="2423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2E6CB5"/>
                </a:solidFill>
                <a:latin typeface="微软雅黑"/>
              </a:rPr>
              <a:t>0.379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148840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/>
              </a:rPr>
              <a:t>偏度（轻微右偏）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2E6CB5"/>
                </a:solidFill>
                <a:latin typeface="微软雅黑"/>
              </a:rPr>
              <a:t>分布特征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33756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均值略高于中位数，分布轻微右偏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峰度 0.15，接近正态；薪资极差约 30 万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中间 50% 集中在 119,358 ~ 169,492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Q-Q 图右尾偏离对角线：少量 AI/ML 高级人才拉高右尾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10% 员工低于约 99,000；10% 高于约 195,000；前 1% 超 243,000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803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2E6CB5"/>
                </a:solidFill>
                <a:latin typeface="微软雅黑"/>
              </a:rPr>
              <a:t>薪资分位数（P1 ~ P99）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00800" y="3337560"/>
          <a:ext cx="539495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8823"/>
                <a:gridCol w="1438656"/>
                <a:gridCol w="1258823"/>
                <a:gridCol w="143865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分位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薪资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分位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薪资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P1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70,313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P75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169,492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P5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88,098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P90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194,946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P10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99,024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P95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211,055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P25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119,358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P99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243,185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P50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143,453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Max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333,046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图1：薪资总体分布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图1 · 直方图 + Q-Q 正态性检验</a:t>
            </a:r>
          </a:p>
        </p:txBody>
      </p:sp>
      <p:pic>
        <p:nvPicPr>
          <p:cNvPr id="8" name="Picture 7" descr="p04_0_I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2937"/>
            <a:ext cx="11064240" cy="38692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897880"/>
            <a:ext cx="11091672" cy="6400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897880"/>
            <a:ext cx="91440" cy="64008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3344"/>
                </a:solidFill>
                <a:latin typeface="微软雅黑"/>
              </a:rPr>
              <a:t>左：薪资直方图（n=250,000），均值 145,718 略高于中位数 143,453，轻微右偏；右：Q-Q 图右尾偏离对角线，存在少量 AI/ML 高级人才拉高右尾。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分组对比：岗位维度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4.2.1 岗位薪资溢价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603503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875"/>
                <a:gridCol w="1724297"/>
                <a:gridCol w="1551867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岗位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平均薪资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溢价率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AI Engineer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173,498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+19.06%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ML Engineer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163,023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+11.88%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Product Manager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157,595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+8.15%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Cloud Engineer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152,103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+4.38%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Software Engineer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141,740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-2.73%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Frontend Developer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132,654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-8.97%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Business Analyst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122,551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-15.90%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Data Analyst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119,892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-17.72%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13716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2E6CB5"/>
                </a:solidFill>
                <a:latin typeface="微软雅黑"/>
              </a:rPr>
              <a:t>关键发现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AI Engineer 薪资最高，高出均值 19.06%，体现 AI 人才高溢价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数据分析类岗位（Data/Business Analyst）最低，低于均值 15% 以上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技术工程类（AI、ML、Cloud、DevOps、安全）普遍高于非工程岗位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分组对比：学历维度与 KS 检验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4.2.2 学历薪资差异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2E6CB5"/>
                </a:solidFill>
                <a:latin typeface="微软雅黑"/>
              </a:rPr>
              <a:t>各学历平均薪资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548640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46304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学历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平均薪资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溢价率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PhD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163,976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+12.53%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Master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153,305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+5.21%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Bachelor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142,411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-2.27%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Diploma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137,159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-5.87%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3344"/>
                          </a:solidFill>
                          <a:latin typeface="微软雅黑"/>
                        </a:rPr>
                        <a:t>High School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131,715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3344"/>
                          </a:solidFill>
                          <a:latin typeface="微软雅黑"/>
                        </a:rPr>
                        <a:t>-9.61%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2E6CB5"/>
                </a:solidFill>
                <a:latin typeface="微软雅黑"/>
              </a:rPr>
              <a:t>KS 检验（薪资分布差异）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691640"/>
          <a:ext cx="54863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370"/>
                <a:gridCol w="982638"/>
                <a:gridCol w="1064525"/>
                <a:gridCol w="818865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对比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D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p 值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显著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High School vs PhD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0.3532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&lt;0.001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***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Diploma vs PhD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0.2952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&lt;0.001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***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High School vs Master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0.2459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&lt;0.001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***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Bachelor vs PhD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0.2382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&lt;0.001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***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25196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学历与薪资严格正相关：学历越高平均薪资越高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PhD 与 High School 差距约 32,261（+24.5%）；Bachelor→Master 跳跃最大（+10,895）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B03030"/>
                </a:solidFill>
                <a:latin typeface="微软雅黑"/>
              </a:rPr>
              <a:t>所有两两 KS 检验 p&lt;0.001 → 学历间薪资分布差异极其显著，是核心区分因素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图2：不同岗位 / 学历 平均薪资对比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图2 · 岗位维度 + 学历维度柱状图</a:t>
            </a:r>
          </a:p>
        </p:txBody>
      </p:sp>
      <p:pic>
        <p:nvPicPr>
          <p:cNvPr id="8" name="Picture 7" descr="p05_0_I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57960"/>
            <a:ext cx="11064240" cy="40792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897880"/>
            <a:ext cx="11091672" cy="6400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897880"/>
            <a:ext cx="91440" cy="64008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3344"/>
                </a:solidFill>
                <a:latin typeface="微软雅黑"/>
              </a:rPr>
              <a:t>左：AI Engineer（173,498）最高、Data Analyst（119,892）最低；右：学历越高薪资越高，PhD（163,976）比 High School（131,715）高约 24.5%。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分组对比：规模 · 行业 · 办公 · 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4.2.3 ~ 4.2.6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2E6CB5"/>
                </a:solidFill>
                <a:latin typeface="微软雅黑"/>
              </a:rPr>
              <a:t>公司规模（单调递增）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规模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平均薪资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溢价率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Enterprise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169,616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+16.40%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Large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155,711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+6.86%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Medium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141,538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-2.87%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Small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134,357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-7.80%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Startup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127,289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-12.65%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11887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2E6CB5"/>
                </a:solidFill>
                <a:latin typeface="微软雅黑"/>
              </a:rPr>
              <a:t>经验阶段（递增约 7~10%/阶段）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60020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1714500"/>
                <a:gridCol w="154305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经验阶段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平均薪资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溢价率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专家（16-20年）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167,407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+14.88%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高级（11-15年）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153,714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+5.49%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中级（6-10年）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140,319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-3.71%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初级（3-5年）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129,465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-11.15%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入门（0-2年）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121,461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-16.65%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1148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150">
                <a:solidFill>
                  <a:srgbClr val="2E6CB5"/>
                </a:solidFill>
                <a:latin typeface="微软雅黑"/>
              </a:rPr>
              <a:t>● </a:t>
            </a:r>
            <a:r>
              <a:rPr sz="1450" b="1">
                <a:solidFill>
                  <a:srgbClr val="223344"/>
                </a:solidFill>
                <a:latin typeface="微软雅黑"/>
              </a:rPr>
              <a:t>公司规模：Enterprise 比 Startup 高出 42,327（+33.2%）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150">
                <a:solidFill>
                  <a:srgbClr val="2E6CB5"/>
                </a:solidFill>
                <a:latin typeface="微软雅黑"/>
              </a:rPr>
              <a:t>● </a:t>
            </a:r>
            <a:r>
              <a:rPr sz="1450" b="1">
                <a:solidFill>
                  <a:srgbClr val="223344"/>
                </a:solidFill>
                <a:latin typeface="微软雅黑"/>
              </a:rPr>
              <a:t>行业维度：溢价率仅 -0.22% ~ +0.19%，行业对薪资影响几乎可忽略（数据平衡设计）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150">
                <a:solidFill>
                  <a:srgbClr val="2E6CB5"/>
                </a:solidFill>
                <a:latin typeface="微软雅黑"/>
              </a:rPr>
              <a:t>● </a:t>
            </a:r>
            <a:r>
              <a:rPr sz="1450" b="1">
                <a:solidFill>
                  <a:srgbClr val="223344"/>
                </a:solidFill>
                <a:latin typeface="微软雅黑"/>
              </a:rPr>
              <a:t>办公方式：完全远程略高 +2.44%，或因远程岗位集中于高技术高薪岗位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150">
                <a:solidFill>
                  <a:srgbClr val="2E6CB5"/>
                </a:solidFill>
                <a:latin typeface="微软雅黑"/>
              </a:rPr>
              <a:t>● </a:t>
            </a:r>
            <a:r>
              <a:rPr sz="1450" b="1">
                <a:solidFill>
                  <a:srgbClr val="223344"/>
                </a:solidFill>
                <a:latin typeface="微软雅黑"/>
              </a:rPr>
              <a:t>经验阶段：呈明显递增规律，专家阶段比入门高约 45,946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图8 / 图9：多维度交叉分析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4.2.7 · 学历×岗位热力图 与 经验×学历交互效应</a:t>
            </a:r>
          </a:p>
        </p:txBody>
      </p:sp>
      <p:pic>
        <p:nvPicPr>
          <p:cNvPr id="8" name="Picture 7" descr="p09_0_Im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31307"/>
            <a:ext cx="5577840" cy="2932546"/>
          </a:xfrm>
          <a:prstGeom prst="rect">
            <a:avLst/>
          </a:prstGeom>
        </p:spPr>
      </p:pic>
      <p:pic>
        <p:nvPicPr>
          <p:cNvPr id="9" name="Picture 8" descr="p09_1_Im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21964"/>
            <a:ext cx="5577840" cy="275123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897880"/>
            <a:ext cx="11091672" cy="6400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897880"/>
            <a:ext cx="91440" cy="64008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3344"/>
                </a:solidFill>
                <a:latin typeface="微软雅黑"/>
              </a:rPr>
              <a:t>左：学历×岗位热力图，PhD×AI Engineer 组合最高（约 191,769）；右：经验×学历交互，高学历随经验增长的薪资增速明显更快。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相关性分析（Pearson + 偏相关）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4.3 相关性分析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2E6CB5"/>
                </a:solidFill>
                <a:latin typeface="微软雅黑"/>
              </a:rPr>
              <a:t>各变量与薪资的 Pearson 相关系数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37360"/>
          <a:ext cx="585215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/>
                <a:gridCol w="164592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变量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相关系数 r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强度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experience_years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0.4376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中等正相关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talent_score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0.4167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中等正相关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size_code 规模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0.4003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中等正相关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edu_code 学历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0.3048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中等正相关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skills_count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0.1273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弱正相关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certifications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0.0738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极弱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3344"/>
                          </a:solidFill>
                          <a:latin typeface="微软雅黑"/>
                        </a:rPr>
                        <a:t>remote_code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0.0582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3344"/>
                          </a:solidFill>
                          <a:latin typeface="微软雅黑"/>
                        </a:rPr>
                        <a:t>极弱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2E6CB5"/>
                </a:solidFill>
                <a:latin typeface="微软雅黑"/>
              </a:rPr>
              <a:t>关键发现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050">
                <a:solidFill>
                  <a:srgbClr val="2E6CB5"/>
                </a:solidFill>
                <a:latin typeface="微软雅黑"/>
              </a:rPr>
              <a:t>● </a:t>
            </a:r>
            <a:r>
              <a:rPr sz="1350" b="1">
                <a:solidFill>
                  <a:srgbClr val="223344"/>
                </a:solidFill>
                <a:latin typeface="微软雅黑"/>
              </a:rPr>
              <a:t>工作经验（r=0.44）是数值变量中相关性最强的因素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050">
                <a:solidFill>
                  <a:srgbClr val="2E6CB5"/>
                </a:solidFill>
                <a:latin typeface="微软雅黑"/>
              </a:rPr>
              <a:t>● </a:t>
            </a:r>
            <a:r>
              <a:rPr sz="1350" b="1">
                <a:solidFill>
                  <a:srgbClr val="223344"/>
                </a:solidFill>
                <a:latin typeface="微软雅黑"/>
              </a:rPr>
              <a:t>公司规模（r=0.40）反映大型企业薪酬优势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050">
                <a:solidFill>
                  <a:srgbClr val="2E6CB5"/>
                </a:solidFill>
                <a:latin typeface="微软雅黑"/>
              </a:rPr>
              <a:t>● </a:t>
            </a:r>
            <a:r>
              <a:rPr sz="1350" b="1">
                <a:solidFill>
                  <a:srgbClr val="223344"/>
                </a:solidFill>
                <a:latin typeface="微软雅黑"/>
              </a:rPr>
              <a:t>学历（r=0.30）中等正相关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050">
                <a:solidFill>
                  <a:srgbClr val="2E6CB5"/>
                </a:solidFill>
                <a:latin typeface="微软雅黑"/>
              </a:rPr>
              <a:t>● </a:t>
            </a:r>
            <a:r>
              <a:rPr sz="1350" b="1">
                <a:solidFill>
                  <a:srgbClr val="223344"/>
                </a:solidFill>
                <a:latin typeface="微软雅黑"/>
              </a:rPr>
              <a:t>技能/证书数量相关弱 → “数量”不如“质量”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4805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2E6CB5"/>
                </a:solidFill>
                <a:latin typeface="微软雅黑"/>
              </a:rPr>
              <a:t>偏相关（控制经验后）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9377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000">
                <a:solidFill>
                  <a:srgbClr val="2E6CB5"/>
                </a:solidFill>
                <a:latin typeface="微软雅黑"/>
              </a:rPr>
              <a:t>● </a:t>
            </a:r>
            <a:r>
              <a:rPr sz="1300" b="1">
                <a:solidFill>
                  <a:srgbClr val="223344"/>
                </a:solidFill>
                <a:latin typeface="微软雅黑"/>
              </a:rPr>
              <a:t>技能 0.13→0.14、证书 0.07→0.08 略升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100">
                <a:solidFill>
                  <a:srgbClr val="E7A61A"/>
                </a:solidFill>
                <a:latin typeface="微软雅黑"/>
              </a:rPr>
              <a:t>– </a:t>
            </a:r>
            <a:r>
              <a:rPr sz="1200" b="0">
                <a:solidFill>
                  <a:srgbClr val="5C6B7A"/>
                </a:solidFill>
                <a:latin typeface="微软雅黑"/>
              </a:rPr>
              <a:t>说明技能与证书存在独立于经验的微弱额外贡献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图3 / 图4：散点图与相关热力图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图3 散点图（含回归线） · 图4 Pearson 相关系数热力图</a:t>
            </a:r>
          </a:p>
        </p:txBody>
      </p:sp>
      <p:pic>
        <p:nvPicPr>
          <p:cNvPr id="8" name="Picture 7" descr="p14_0_Im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20752"/>
            <a:ext cx="5577840" cy="2353655"/>
          </a:xfrm>
          <a:prstGeom prst="rect">
            <a:avLst/>
          </a:prstGeom>
        </p:spPr>
      </p:pic>
      <p:pic>
        <p:nvPicPr>
          <p:cNvPr id="9" name="Picture 8" descr="p10_0_Im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462" y="1325880"/>
            <a:ext cx="4731636" cy="4343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897880"/>
            <a:ext cx="11091672" cy="6400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897880"/>
            <a:ext cx="91440" cy="64008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3344"/>
                </a:solidFill>
                <a:latin typeface="微软雅黑"/>
              </a:rPr>
              <a:t>左：经验与薪资呈明显正向线性（r=0.44），技能数量趋势较弱（r=0.13）；右：各变量 Pearson 相关系数热力图，经验、规模、学历与薪资相关性最强。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深度洞察：特征重要性与效应量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4.4 深度洞察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2E6CB5"/>
                </a:solidFill>
                <a:latin typeface="微软雅黑"/>
              </a:rPr>
              <a:t>随机森林特征重要性（Top）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37360"/>
          <a:ext cx="56692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10896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排名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特征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重要性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location 地区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0.3845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experience_years 经验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0.2059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job_title 岗位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0.1115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company_size 规模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0.0924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education_level 学历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0.0496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talent_score 综合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0.0173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9224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2E6CB5"/>
                </a:solidFill>
                <a:latin typeface="微软雅黑"/>
              </a:rPr>
              <a:t>η² 效应量（分类变量解释力）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1737360"/>
          <a:ext cx="530351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289"/>
                <a:gridCol w="1325880"/>
                <a:gridCol w="165735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分类变量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η²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解释力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location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0.3235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强 32.4%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company_size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0.1650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中 16.5%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job_title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0.1613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中 16.1%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education_level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0.0958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中偏弱 9.6%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remote_work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0.0045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极弱 0.45%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344"/>
                          </a:solidFill>
                          <a:latin typeface="微软雅黑"/>
                        </a:rPr>
                        <a:t>industry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0.00003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344"/>
                          </a:solidFill>
                          <a:latin typeface="微软雅黑"/>
                        </a:rPr>
                        <a:t>可忽略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480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B03030"/>
                </a:solidFill>
                <a:latin typeface="微软雅黑"/>
              </a:rPr>
              <a:t>地区是最大影响因素（重要性 38.5%、η²=0.32），地域差异决定性最强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随机森林与 η² 高度一致：地区、公司规模、岗位、学历 为四大核心驱动因素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行业与办公方式影响几乎为零，印证数据集维度均衡设计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图13 / 图10：地区薪资与各维度溢价率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图13 地区平均薪资 · 图10 各维度薪资溢价率汇总</a:t>
            </a:r>
          </a:p>
        </p:txBody>
      </p:sp>
      <p:pic>
        <p:nvPicPr>
          <p:cNvPr id="8" name="Picture 7" descr="p17_0_Im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7626"/>
            <a:ext cx="5577840" cy="3879907"/>
          </a:xfrm>
          <a:prstGeom prst="rect">
            <a:avLst/>
          </a:prstGeom>
        </p:spPr>
      </p:pic>
      <p:pic>
        <p:nvPicPr>
          <p:cNvPr id="9" name="Picture 8" descr="p15_0_Im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847" y="1325880"/>
            <a:ext cx="5322866" cy="4343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897880"/>
            <a:ext cx="11091672" cy="6400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897880"/>
            <a:ext cx="91440" cy="64008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3344"/>
                </a:solidFill>
                <a:latin typeface="微软雅黑"/>
              </a:rPr>
              <a:t>左：各地区平均薪资，USA（181,716）最高、India（97,690）最低，差距显著；右：岗位/学历/行业/公司规模四维度薪资溢价率汇总。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高薪 vs 低薪群体特征对比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4.4.3 Q1 vs Q4 群体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54480"/>
          <a:ext cx="10515597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5733"/>
                <a:gridCol w="2044699"/>
                <a:gridCol w="2044699"/>
                <a:gridCol w="1947333"/>
                <a:gridCol w="1363133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特征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Q1 低薪均值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Q4 高薪均值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差异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倍数</a:t>
                      </a:r>
                    </a:p>
                  </a:txBody>
                  <a:tcPr anchor="ctr">
                    <a:solidFill>
                      <a:srgbClr val="2E6CB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3344"/>
                          </a:solidFill>
                          <a:latin typeface="微软雅黑"/>
                        </a:rPr>
                        <a:t>experience_years 经验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6.62 年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13.49 年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+6.87 年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2.04×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3344"/>
                          </a:solidFill>
                          <a:latin typeface="微软雅黑"/>
                        </a:rPr>
                        <a:t>talent_score 综合评分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6.21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9.33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+3.11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1.50×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3344"/>
                          </a:solidFill>
                          <a:latin typeface="微软雅黑"/>
                        </a:rPr>
                        <a:t>skills_count 技能数量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9.13 个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10.88 个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+1.75 个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1.19×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3344"/>
                          </a:solidFill>
                          <a:latin typeface="微软雅黑"/>
                        </a:rPr>
                        <a:t>certifications 证书数量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2.33 个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2.65 个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+0.32 个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344"/>
                          </a:solidFill>
                          <a:latin typeface="微软雅黑"/>
                        </a:rPr>
                        <a:t>1.14×</a:t>
                      </a:r>
                    </a:p>
                  </a:txBody>
                  <a:tcPr anchor="ctr">
                    <a:solidFill>
                      <a:srgbClr val="E3ED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2E6CB5"/>
                </a:solidFill>
                <a:latin typeface="微软雅黑"/>
              </a:rPr>
              <a:t>关键发现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B03030"/>
                </a:solidFill>
                <a:latin typeface="微软雅黑"/>
              </a:rPr>
              <a:t>高薪群体平均经验是低薪群体的 2 倍 —— 最显著的分水岭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技能与证书数量差异有限，区分度较低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综合能力评分差异 1.50×，融合了经验、技能与证书效果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200">
                <a:solidFill>
                  <a:srgbClr val="2E6CB5"/>
                </a:solidFill>
                <a:latin typeface="微软雅黑"/>
              </a:rPr>
              <a:t>● </a:t>
            </a:r>
            <a:r>
              <a:rPr sz="1500" b="1">
                <a:solidFill>
                  <a:srgbClr val="223344"/>
                </a:solidFill>
                <a:latin typeface="微软雅黑"/>
              </a:rPr>
              <a:t>结论：“工作经验积累”比单纯“堆砌技能/证书数量”更能带来薪资提升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结论：薪资的四大核心驱动因素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五、结论与反思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743200" cy="2103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743200" cy="54864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1. 地区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14A09A"/>
                </a:solidFill>
                <a:latin typeface="微软雅黑"/>
              </a:rPr>
              <a:t>η²=0.32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223344"/>
                </a:solidFill>
                <a:latin typeface="微软雅黑"/>
              </a:rPr>
              <a:t>解释力最强，最高与最低地区差约 3~4 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2" y="1417320"/>
            <a:ext cx="2743200" cy="2103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0712" y="1417320"/>
            <a:ext cx="2743200" cy="548640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141732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2. 公司规模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10312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2E6CB5"/>
                </a:solidFill>
                <a:latin typeface="微软雅黑"/>
              </a:rPr>
              <a:t>η²=0.17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60604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223344"/>
                </a:solidFill>
                <a:latin typeface="微软雅黑"/>
              </a:rPr>
              <a:t>Enterprise 比 Startup 高 42,327（+33.2%）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4" y="1417320"/>
            <a:ext cx="2743200" cy="2103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417320"/>
            <a:ext cx="2743200" cy="54864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141732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3. 岗位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210312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E7A61A"/>
                </a:solidFill>
                <a:latin typeface="微软雅黑"/>
              </a:rPr>
              <a:t>η²=0.16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60604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223344"/>
                </a:solidFill>
                <a:latin typeface="微软雅黑"/>
              </a:rPr>
              <a:t>AI Engineer +19.1%，Data Analyst -17.7%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34856" y="1417320"/>
            <a:ext cx="2743200" cy="21031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4856" y="1417320"/>
            <a:ext cx="2743200" cy="54864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4856" y="141732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4. 学历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210312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14A09A"/>
                </a:solidFill>
                <a:latin typeface="微软雅黑"/>
              </a:rPr>
              <a:t>η²=0.10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7736" y="260604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223344"/>
                </a:solidFill>
                <a:latin typeface="微软雅黑"/>
              </a:rPr>
              <a:t>PhD 比 High School 高 32,261（+24.5%）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4048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50">
                <a:solidFill>
                  <a:srgbClr val="2E6CB5"/>
                </a:solidFill>
                <a:latin typeface="微软雅黑"/>
              </a:rPr>
              <a:t>● </a:t>
            </a:r>
            <a:r>
              <a:rPr sz="1450" b="1">
                <a:solidFill>
                  <a:srgbClr val="223344"/>
                </a:solidFill>
                <a:latin typeface="微软雅黑"/>
              </a:rPr>
              <a:t>工作经验（r=0.44）是数值变量中最强因素，高薪群体经验为低薪的 2 倍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50">
                <a:solidFill>
                  <a:srgbClr val="2E6CB5"/>
                </a:solidFill>
                <a:latin typeface="微软雅黑"/>
              </a:rPr>
              <a:t>● </a:t>
            </a:r>
            <a:r>
              <a:rPr sz="1450" b="1">
                <a:solidFill>
                  <a:srgbClr val="223344"/>
                </a:solidFill>
                <a:latin typeface="微软雅黑"/>
              </a:rPr>
              <a:t>学历间薪资分布差异显著（KS 全部 p&lt;0.001），PhD 与 High School 差异最大（D=0.35）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50">
                <a:solidFill>
                  <a:srgbClr val="2E6CB5"/>
                </a:solidFill>
                <a:latin typeface="微软雅黑"/>
              </a:rPr>
              <a:t>● </a:t>
            </a:r>
            <a:r>
              <a:rPr sz="1450" b="1">
                <a:solidFill>
                  <a:srgbClr val="223344"/>
                </a:solidFill>
                <a:latin typeface="微软雅黑"/>
              </a:rPr>
              <a:t>学历 × 经验存在正向交互：高学历人才随经验增长薪资增速更快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150">
                <a:solidFill>
                  <a:srgbClr val="2E6CB5"/>
                </a:solidFill>
                <a:latin typeface="微软雅黑"/>
              </a:rPr>
              <a:t>● </a:t>
            </a:r>
            <a:r>
              <a:rPr sz="1450" b="1">
                <a:solidFill>
                  <a:srgbClr val="223344"/>
                </a:solidFill>
                <a:latin typeface="微软雅黑"/>
              </a:rPr>
              <a:t>行业与办公方式影响可忽略（η²≈0.00003 与 0.0045），源于数据平衡设计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研究问题的回答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5.2 ~ 5.4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1155680" cy="14173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280160" cy="141732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2801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27048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14A09A"/>
                </a:solidFill>
                <a:latin typeface="微软雅黑"/>
              </a:rPr>
              <a:t>哪些因素影响最大？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20240"/>
            <a:ext cx="9509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223344"/>
                </a:solidFill>
                <a:latin typeface="微软雅黑"/>
              </a:rPr>
              <a:t>地区、公司规模、岗位、学历为四大核心因素；行业与办公方式几乎可忽略。可通过选高薪地区、进大企业、从事 AI/ML 岗位、提升学历来最大化薪资。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11155680" cy="14173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1280160" cy="1417320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12801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127248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2E6CB5"/>
                </a:solidFill>
                <a:latin typeface="微软雅黑"/>
              </a:rPr>
              <a:t>学历差异是否显著？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520440"/>
            <a:ext cx="9509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223344"/>
                </a:solidFill>
                <a:latin typeface="微软雅黑"/>
              </a:rPr>
              <a:t>十分显著。KS 检验所有学历两两差异均达 p&lt;0.001；学历越高，薪资分布整体右移，PhD 平均比 High School 高约 24.5%。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11155680" cy="14173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617720"/>
            <a:ext cx="1280160" cy="141732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12801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727448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E7A61A"/>
                </a:solidFill>
                <a:latin typeface="微软雅黑"/>
              </a:rPr>
              <a:t>高薪 vs 低薪的差异？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120640"/>
            <a:ext cx="9509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223344"/>
                </a:solidFill>
                <a:latin typeface="微软雅黑"/>
              </a:rPr>
              <a:t>经验差异最大（2.04×）是最显著分水岭；技能（1.19×）与证书（1.14×）差异有限。经验积累比堆砌技能/证书数量更能提升薪资。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"/>
            <a:ext cx="566928" cy="566928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实验局限性与改进建议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58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C4D0"/>
                </a:solidFill>
                <a:latin typeface="微软雅黑"/>
              </a:rPr>
              <a:t>5.5 ~ 5.7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E6CB5"/>
                </a:solidFill>
                <a:latin typeface="微软雅黑"/>
              </a:rPr>
              <a:t>实验局限性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数据真实性：各类别分布极均衡、行业差异近零，更接近合成/教学数据而非真实市场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sz="1200">
                <a:solidFill>
                  <a:srgbClr val="E7A61A"/>
                </a:solidFill>
                <a:latin typeface="微软雅黑"/>
              </a:rPr>
              <a:t>– </a:t>
            </a:r>
            <a:r>
              <a:rPr sz="1300" b="0">
                <a:solidFill>
                  <a:srgbClr val="5C6B7A"/>
                </a:solidFill>
                <a:latin typeface="微软雅黑"/>
              </a:rPr>
              <a:t>结果主要反映数据统计规律，不宜直接作为真实薪资市场的精确推断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缺少重要变量：无具体城市、公司名称、个人绩效等关键信息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非线性关系未深入：仅用线性相关与随机森林简单建模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E6CB5"/>
                </a:solidFill>
                <a:latin typeface="微软雅黑"/>
              </a:rPr>
              <a:t>改进建议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采用真实招聘平台数据（Glassdoor、LinkedIn、BOSS 直聘）对比分析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尝试 XGBoost、LightGBM 等更复杂模型进行薪资预测建模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100">
                <a:solidFill>
                  <a:srgbClr val="2E6CB5"/>
                </a:solidFill>
                <a:latin typeface="微软雅黑"/>
              </a:rPr>
              <a:t>● </a:t>
            </a:r>
            <a:r>
              <a:rPr sz="1400" b="1">
                <a:solidFill>
                  <a:srgbClr val="223344"/>
                </a:solidFill>
                <a:latin typeface="微软雅黑"/>
              </a:rPr>
              <a:t>引入编程语言技能、行业细分、公司融资阶段等更多特征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526280"/>
            <a:ext cx="5394960" cy="15544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4526280"/>
            <a:ext cx="91440" cy="1554480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663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E6CB5"/>
                </a:solidFill>
                <a:latin typeface="微软雅黑"/>
              </a:rPr>
              <a:t>AI 使用说明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0292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C6B7A"/>
                </a:solidFill>
                <a:latin typeface="微软雅黑"/>
              </a:rPr>
              <a:t>使用 Claude 辅助生成分析代码、整理表格、优化结构；所有数据逻辑、统计结论与图表解读均经人工审核，代码可复现。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2194560" cy="54864"/>
          </a:xfrm>
          <a:prstGeom prst="rect">
            <a:avLst/>
          </a:prstGeom>
          <a:solidFill>
            <a:srgbClr val="E7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9FD3E8"/>
                </a:solidFill>
                <a:latin typeface="微软雅黑"/>
              </a:rPr>
              <a:t>敬请批评指正 · 欢迎提问交流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B9C4D0"/>
                </a:solidFill>
                <a:latin typeface="微软雅黑"/>
              </a:rPr>
              <a:t>岗位薪资预测数据分析实验报告  ·  DSP-10  ·  2026.04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