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李明。今天我将为大家汇报我的数据科学导论大作业——岗位薪资预测数据分析实验报告。本次报告将围绕一个包含25万条记录的薪资数据集，从数据获取、预处理、探索性分析到深度建模，全面展示一个完整的数据科学项目流程，并深入探讨影响薪资的关键因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会介绍研究的背景和目标。其次，详细说明数据的来源、规模以及预处理过程。第三部分是核心的探索性数据分析，我们将从多个维度探究薪资的差异。第四部分会进行更深入的建模分析，评估各因素的重要性。最后，我将总结研究发现并对未来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第一部分，引言与研究目标。随着信息技术产业的发展，技术岗位的薪资差异日益显著。本研究的目的就是深入挖掘这些差异背后的驱动因素，为个人、企业和社会提供有价值的洞察。我们发现，现有报告大多停留在表面，因此本研究致力于通过一个完整的数据科学项目，提供更深度的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析的核心目标包括数据质量核查、描述性统计、分组对比、相关性分析、深度洞察挖掘以及可视化呈现。围绕这些目标，我们设定了三个核心研究问题：首先，哪些因素对薪资影响最大？其次，不同学历的薪资差异是否显著？最后，高薪和低薪群体在个人能力上有何本质区别？这些问题将贯穿我们整个分析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接下来进入第二部分，数据获取与预处理。我们使用的数据来自Kaggle和Hugging Face的公开数据集，包含25万条记录和10个特征字段。这张表格详细解释了每个字段的含义，包括岗位名称、工作经验、学历、技能数量等，其中“salary”是我们的目标预测变量。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预处理阶段，我们首先进行了数据清洗。检查发现，数据集中不存在任何缺失值和重复值，质量非常高。接着，我们使用IQR方法检测薪资字段的异常值，发现了约2300个高薪样本。经过分析，我们认为这些样本代表了市场顶尖人才的真实价值，因此决定保留它们，以确保后续分析的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清洗完成后，我们进行了特征工程。我们将学历、公司规模等有序分类变量转换为数值编码，以便进行数学计算。此外，我们还创造性地构建了两个新特征：一个是“综合能力评分”，它结合了经验、技能和证书；另一个是“经验分组”，将连续的经验年限划分为五个等级。这些新特征将帮助我们更深入地理解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探索性数据分析。首先看薪资的总体分布。从图表中可以看到，薪资均值约为14.5万美元，中位数约为14.3万美元，呈现轻微的右偏分布。这说明存在少量极高的薪资值。Q-Q图也验证了这一点，数据主体接近正态，但在尾部，特别是右尾，有明显偏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行分组对比分析。从岗位维度看，AI工程师的平均薪资遥遥领先，比总体均值高出近19%，而数据分析师则处于薪资洼地。从学历维度看，学历与薪资呈现严格的正相关关系，博士学历的平均薪资比高中学历高出约24.5%，其中从本科到硕士的薪资增长最为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续分组分析。公司规模与薪资呈严格的单调递增关系，大型企业的平均薪资比初创公司高出超过30%。一个惊人的发现是，在这个数据集中，不同行业间的薪资差异极小。此外，我们还发现完全远程办公的岗位存在约2.4%的薪资溢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挖掘更深层次的关系，我们进行了多维度交叉分析。左边的热力图展示了学历和岗位的交互效应，我们可以清晰地看到，博士学历的AI工程师薪资最高。右边的图表则揭示了一个重要结论：学历和经验之间存在正向交互效应，也就是说，高学历人才在积累经验后，薪资增长的速度会更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进行深度分析与建模。首先是相关性分析。这张热力图展示了各变量之间的Pearson相关系数。可以看到，工作经验与薪资的相关性最强，达到了0.4376。其次是公司规模和学历。相比之下，技能和证书的数量与薪资的相关性较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回答“什么因素最重要”的问题，我们使用随机森林模型进行了特征重要性评估。结果非常有趣：地区是影响薪资的最大单一因素，重要性远超其他变量。其次是工作经验、岗位、公司规模和学历。这说明，选择在哪个国家工作，对薪资的影响可能比个人努力更为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直接对比高薪和低薪群体。这张表格清晰地显示，高薪群体的平均工作经验几乎是低薪群体的2倍，这是两者之间最显著的分水岭。相比之下，技能和证书数量的差异则小得多。这告诉我们，在职业发展中，经验的积累比单纯追求技能或证书的数量更为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最后一部分，结论与展望。总结一下我们的主要发现：首先，地区、公司规模、岗位和学历是影响薪资的四大核心因素。其次，工作经验是个人最重要的资本。第三，学历不仅本身回报显著，还能加速经验带来的薪资增长。最后，我们发现技能和证书等因素的独立影响非常有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回到开篇提出的三个核心问题。第一，影响薪资最大的因素是地区、公司规模、岗位和学历。第二，不同学历的薪资差异非常显著。第三，区分高薪和低薪群体的最大分水岭是工作经验，而非技能或证书数量。这些结论为我们的职业规划提供了清晰的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的研究也存在一些局限性。比如，我们使用的数据集可能是合成数据，与真实市场存在差异，并且缺少一些关键变量。因此，未来的改进方向包括：使用真实世界的数据，引入更多特征，尝试更复杂的机器学习模型，并深入探索变量间的非线性关系，以构建更精准的预测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e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6.sv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6.sv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7.svg"/><Relationship Id="rId4" Type="http://schemas.openxmlformats.org/officeDocument/2006/relationships/image" Target="../media/image37.svg"/><Relationship Id="rId9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00" y="1485900"/>
            <a:ext cx="76200" cy="889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岗位薪资预测数据分析实验报告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73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数据科学导论 | 大作业汇报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1435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359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76400" y="53340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李明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51435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5359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05400" y="53340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学号 / 班级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20240520 / 大数据技术班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874000" y="51435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0" y="5359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534400" y="53340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提交日期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引言与研究目标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剖析研究背景与现实意义，明确数据分析的核心目标与待解决的关键问题，为后续研究奠定坚实的逻辑起点。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974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数据获取与预处理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540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详述数据源的来源渠道与样本规模，界定关键字段的业务含义，并展示数据清洗、去噪、标准化的完整预处理流程。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518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423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探索性数据分析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42300" y="2540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从宏观视角解析薪资的总体分布特征，通过行业、经验等维度的分组对比与交叉分析，挖掘数据背后的直观规律。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25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深度分析与建模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82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开展多变量相关性挖掘，运用模型评估核心特征对薪资的影响权重，构建高低薪群体的差异化画像，深入解析薪资分化的关键驱动因素与内在逻辑。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425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结论与展望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82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系统总结研究的核心发现与洞察，针对性回答研究初始提出的关键问题，客观剖析当前研究的局限性，并对未来的研究方向、行业应用场景及数据优化提出前瞻性的展望。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引言与研究目标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0828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时代背景：技术浪潮下的人才红利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416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信息技术产业飞速发展，数字化转型深入各行各业。AI工程师、数据科学家等新兴技术岗位需求激增，成为就业市场的绝对热点，行业竞争与机遇并存。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8415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59600" y="20828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核心问题：差异背后的驱动因子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416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不同岗位、学历背景、从业经验、企业规模及城市地域间的薪资差异显著。我们试图探究：究竟是哪些因素在主导薪资水平？其影响权重与内在逻辑又是什么？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44323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 多维价值：从个人到社会的赋能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911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对个人，辅助科学的职业规划与求职决策；对企业，提供制定薪酬策略的客观数据支持；对社会，揭示人才市场价值规律，为教育与培训体系的优化提供参考。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445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59600" y="44323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 研究突破：超越表面的量化洞察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911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现有报告多止步于简单的均值对比。本研究将通过完整的数据科学流程，从清洗、探索到建模，挖掘更具深度的量化规律，提供可落地的分析结论。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3F4F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715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引言与研究目标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核心分析目标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508000" cy="381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8575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19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数据质量核查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校验数据完整性与准确性，剔除异常值，筑牢分析根基。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500" y="2857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746500" y="2819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描述性统计分析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揭示薪资分布规律，刻画均值、中位数及离散程度特征。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835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分组对比分析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按学历、行业等维度切分，洞察不同群体间的薪酬差异。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5500" y="38735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746500" y="3835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相关性分析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量化经验、技能等变量与薪资的线性关联强度。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851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深度洞察挖掘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利用模型评估特征权重，结合检验挖掘显著性结论。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5500" y="48895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746500" y="48514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可视化呈现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通过图表直观展示结论，提升分析报告的可读性。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778000"/>
            <a:ext cx="52070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2032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关键研究问题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2540000"/>
            <a:ext cx="508000" cy="381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2794000"/>
            <a:ext cx="46990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04000" y="28956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Q1 核心驱动力识别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在影响薪资的众多因素中，哪些是起决定性作用的关键变量？如何量化其影响力权重？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873500"/>
            <a:ext cx="46990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39751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Q2 学历价值验证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学历提升对薪资增长的回报率如何？不同学历阶段（如硕士vs本科）的薪资差异是否具备统计显著性？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953000"/>
            <a:ext cx="46990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604000" y="50546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Q3 群体画像差异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高薪群体与低薪群体在技能组合、项目经验及职业路径上存在哪些本质区别？这些特征如何转化为薪酬优势？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23900"/>
            <a:ext cx="76200" cy="584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数据获取与预处理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权威数据源渠道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114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主源：Kaggle “Job Salary Prediction” 公开数据集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镜像：Hugging Face Datasets 验证分发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特点：覆盖全球多行业真实招聘与薪资样本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海量样本与特征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3114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量级：250,000+ 条高质量有效记录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维度：10 个结构化核心特征字段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规格：CSV 格式，体积约 17.14 MB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自动化采集与加载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3114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方式：API 直连与公开源批量下载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工具：Python (Pandas) 清洗与结构化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质控：脚本自动校验缺失值与异常值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核心特征字段定义与说明</a:t>
            </a:r>
            <a:endParaRPr lang="en-US" sz="1100"/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762000" y="4191000"/>
          <a:ext cx="10668000" cy="208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字段名称 (Field)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业务含义与说明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数据类型与属性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job_title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具体岗位名称，涵盖数据、算法、开发等12类职业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分类变量 (Categorical)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experience_years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候选人在该专业领域内的累计全职工作年限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数值变量 (Integer, 0-25+)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salary (Target)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岗位的税前年薪水平，本项目的核心预测目标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4B8A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连续数值 (Continuous)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industry / location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企业所属行业赛道（如金融/科技）及办公城市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多分类变量 (10+ 类别)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数据获取与预处理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235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209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缺失值检查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91">
            <a:off x="9652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65200" y="2857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检测方法：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Pandas 函数 `df.isnull().sum()` 对全量字段进行统计排查。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结果发现：</a:t>
            </a:r>
            <a:r>
              <a:rPr lang="en-US" sz="14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所有字段缺失值数量均为 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，无空值或 NaN 存在。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数据完整性极佳，无需进行插值或删除操作，可直接进入建模环节。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2235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29200" y="2209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重复值校验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691">
            <a:off x="45974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97400" y="2857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检测方法：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`df.duplicated().sum()` 识别完全重复的观测记录行。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结果发现：</a:t>
            </a:r>
            <a:r>
              <a:rPr lang="en-US" sz="14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完全重复记录数为 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，数据无冗余堆积与重复录入。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样本独立性良好，有效避免了重复数据对模型权重的干扰，保障分析客观性。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0" y="2235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2209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 异常值研判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691">
            <a:off x="82296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29600" y="2857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检测方法：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IQR 四分位距法，对“薪资”这一核心业务字段进行离群点扫描。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发现异常：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共识别出</a:t>
            </a:r>
            <a:r>
              <a:rPr lang="en-US" sz="14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2,336 个样本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(占比 0.93%) 超出常规分布范围。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经业务逻辑核验，该类数据反映真实高端岗位价值，予以保留以维持数据生态真实性。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42600" cy="762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65200" y="57404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预处理总结：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原始数据集展现出极高的质量标准，无缺失、无重复，且异常值经核验为真实业务反映。这为后续的特征工程、模型训练与数据分析奠定了坚实、可靠的基础。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3F4F6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cap="flat" cmpd="sng">
            <a:gradFill rotWithShape="1">
              <a:gsLst>
                <a:gs pos="0">
                  <a:srgbClr val="C4CCDD">
                    <a:alpha val="100000"/>
                  </a:srgbClr>
                </a:gs>
                <a:gs pos="100000">
                  <a:srgbClr val="E6CFCF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016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cap="flat" cmpd="sng">
            <a:solidFill>
              <a:srgbClr val="019F8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数据获取与预处理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特征工程 (Feature Engineering)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为了支持后续的相关性分析和机器学习建模，我们对关键分类变量进行了标准化数值编码，并结合业务逻辑构建了“综合能力评分”等复合特征，有效提升了数据维度的丰富度与模型的可解释性。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3619500"/>
          <a:ext cx="10668000" cy="2819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新字段名称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业务含义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构造逻辑与编码规则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edu_code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学历层级标准化编码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有序映射：高中(1) → 本科(3) → 硕士(4) → 博士及以上(5)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size_code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企业规模等级编码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按人数量化：初创(1) → 中型(3) → 大型(4) → 集团企业(5)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remote_code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办公模式分类编码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分类映射：纯线下(0) / 混合办公(1) / 完全远程(2)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talent_score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候选人综合竞争力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加权模型：0.35×经验年限 + 0.35×技能匹配 + 0.30×证书认证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exp_group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职业经验阶段分组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区间划分：入门(0-2) / 初级(3-5) / 资深(6-10) / 专家(10年+)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7239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探索性数据分析 (EDA)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8034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平均薪资 (Mean)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$145,718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619500" y="18034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薪资中位数 (Median)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19500" y="21590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$143,453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18034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标准差 (Std Dev)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1590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37,408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53500" y="1651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080500" y="18034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分布偏度 (Skewness)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080500" y="21590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0.379 (右偏)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分布特征深度解读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835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193800" y="3810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轻微右偏的长尾效应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均值略高于中位数，表明存在少量极高薪资样本拉高了整体平均水平，形成典型的正偏态分布，反映出行业内存在“头部高薪”现象。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724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193800" y="4699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显著的薪资离散程度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较大的标准差反映出行业内薪资水平差异明显，这可能与岗位层级、核心技能掌握程度、工作经验年限及地域经济水平强相关。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613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193800" y="5588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正态性与尾部偏离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Q-Q图显示数据主体基本贴合基准线，符合正态分布特征；但右尾明显上翘偏离，验证了高薪异常值的客观存在。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 l="6317" r="-336"/>
          <a:stretch>
            <a:fillRect/>
          </a:stretch>
        </p:blipFill>
        <p:spPr>
          <a:xfrm>
            <a:off x="6137569" y="3355103"/>
            <a:ext cx="5851235" cy="2169397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24" name="AutoShape 24"/>
          <p:cNvSpPr/>
          <p:nvPr/>
        </p:nvSpPr>
        <p:spPr>
          <a:xfrm>
            <a:off x="6223000" y="5651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图示：左侧为薪资频数分布直方图，直观展示数据集中趋势；右侧为Q-Q正态性检验图，用于验证数据分布的正态性假设。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3F4F6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698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探索性数据分析 (EDA)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796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岗位维度：技术壁垒决定溢价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114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薪资榜首：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Engineer 以 $173,498 领跑，较均值高出 19.06%。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价值洼地：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Data Analyst 薪资 $119,892，低于均值 17.72%。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趋势：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硬核技术工程类岗位薪资显著高于非工程类分析岗。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71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8796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学历维度：高学历带来高回报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114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强正相关：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学历层次与平均薪资呈严格正比，PhD 薪资达 $163,976。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悬殊差距：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博士与高中学历薪资差距高达 24.5%。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关键跃升：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从本科到硕士阶段的薪资增长幅度最为显著，性价比突出。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-36" r="-837"/>
          <a:stretch>
            <a:fillRect/>
          </a:stretch>
        </p:blipFill>
        <p:spPr>
          <a:xfrm>
            <a:off x="193965" y="3973944"/>
            <a:ext cx="5905628" cy="2159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159500" y="3937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50000" y="412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4572000"/>
            <a:ext cx="488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技术为王：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具备硬核编程与算法能力的岗位，薪资天花板更高。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学历杠杆：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硕士学历是性价比最高的学历投资，带来显著溢价。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发展启示：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深耕高壁垒技术领域 + 提升学历背景，是实现薪资跃升的关键路径。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探索性数据分析 (EDA)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公司规模：显著递增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薪资随规模呈严格单调上升。企业级公司平均薪资较初创公司溢价达33.2%，规模效应带来的薪资红利非常显著。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97400" y="184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行业差异：趋于收敛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28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不同行业间的平均薪资差异极小，几乎可忽略不计。这表明在当前样本中，行业并非决定薪酬高低的核心决定性因素。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518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42300" y="184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 办公模式：远程溢价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42300" y="228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完全远程办公岗位平均薪资约为$149,280，相比现场办公存在约2.4%的薪资溢价，体现了远程工作的市场竞争力。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73563" y="3752271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图表：行业与公司规模薪资对比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476" r="-307"/>
          <a:stretch>
            <a:fillRect/>
          </a:stretch>
        </p:blipFill>
        <p:spPr>
          <a:xfrm>
            <a:off x="295565" y="4127500"/>
            <a:ext cx="6188362" cy="2286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968673" y="37465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图表：办公方式对薪资分布的影响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12192" b="12192"/>
          <a:stretch>
            <a:fillRect/>
          </a:stretch>
        </p:blipFill>
        <p:spPr>
          <a:xfrm>
            <a:off x="6712534" y="4127500"/>
            <a:ext cx="5207000" cy="2286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探索性数据分析 (EDA)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4051" b="4051"/>
          <a:stretch>
            <a:fillRect/>
          </a:stretch>
        </p:blipFill>
        <p:spPr>
          <a:xfrm>
            <a:off x="1016000" y="1905000"/>
            <a:ext cx="47625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2545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学历 × 岗位：交互效应显著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7244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学历与岗位的组合对薪资影响巨大。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PhD + AI工程师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组合薪资登顶，均值达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191,769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；而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高中 + 数据分析师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薪资相对较低，均值约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105,993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，凸显了高技术岗位与高学历的强正相关性。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1002" b="1002"/>
          <a:stretch>
            <a:fillRect/>
          </a:stretch>
        </p:blipFill>
        <p:spPr>
          <a:xfrm>
            <a:off x="6413500" y="1905000"/>
            <a:ext cx="47625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13500" y="42545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经验 × 学历：薪资加速分化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47244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随着经验积累，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高学历人才的薪资增长速度明显快于低学历群体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。这验证了两者存在显著的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正向交互效应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：学历不仅是入职的敲门砖，更是职业发展中薪资增长的核心加速器。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92200" y="6350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深度分析与建模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561" r="561"/>
          <a:stretch>
            <a:fillRect/>
          </a:stretch>
        </p:blipFill>
        <p:spPr>
          <a:xfrm>
            <a:off x="762000" y="1905000"/>
            <a:ext cx="3556000" cy="3302000"/>
          </a:xfrm>
          <a:prstGeom prst="roundRect">
            <a:avLst>
              <a:gd name="adj" fmla="val 4615"/>
            </a:avLst>
          </a:prstGeom>
          <a:noFill/>
          <a:ln w="254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图：各变量Pearson相关系数热力图，颜色越深代表相关性越强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905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2095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397500" y="2070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工作经验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16500" y="2540000"/>
            <a:ext cx="298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r = 0.4376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16500" y="3048000"/>
            <a:ext cx="298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与薪资相关性最强的个人因素，是决定薪酬水平的核心变量。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18500" y="1905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070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公司规模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09000" y="2540000"/>
            <a:ext cx="298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r = 0.4003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09000" y="3048000"/>
            <a:ext cx="298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呈显著正相关，大厂效应明显，企业体量直接影响薪资天花板。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3937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4127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397500" y="4102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学历背景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16500" y="4572000"/>
            <a:ext cx="298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r = 0.3048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16500" y="5080000"/>
            <a:ext cx="298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中等正相关，不仅是入职的敲门砖，更是定薪定级的重要门槛。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937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9000" y="4127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90000" y="4102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技能证书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09000" y="4572000"/>
            <a:ext cx="298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微弱正向贡献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09000" y="5080000"/>
            <a:ext cx="298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独立于经验之外的增值项，虽非决定性因素，但能在同层级中形成竞争优势。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深度分析与建模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特征重要性归因分析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基于随机森林回归模型对特征贡献度进行量化排序，我们量化了从宏观地域到微观个人能力对薪资的影响权重，揭示了决定薪酬差异的关键驱动力。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01. 地区 (Location) — 决定性因素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权重占比 0.3845，是影响薪资的最大单一变量。就业地域直接决定了薪资的基准水位，其影响力超过所有个人能力指标之和。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81500"/>
            <a:ext cx="5334000" cy="952500"/>
          </a:xfrm>
          <a:prstGeom prst="roundRect">
            <a:avLst>
              <a:gd name="adj" fmla="val 0"/>
            </a:avLst>
          </a:prstGeom>
          <a:solidFill>
            <a:srgbClr val="14B8A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50850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02. 经验年限 (Experience) — 核心积累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权重占比 0.2059，个人维度的首要因子。工作年限与薪资增长呈强正相关，是职场价值积累的最直接体现。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14B8A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558800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03. 复合因子：岗位与规模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岗位层级、公司规模及学历构成次要影响；行业赛道、远程办公模式等因素对薪资边际影响较小。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t="3266" b="3266"/>
          <a:stretch>
            <a:fillRect/>
          </a:stretch>
        </p:blipFill>
        <p:spPr>
          <a:xfrm>
            <a:off x="6604000" y="1778000"/>
            <a:ext cx="4826000" cy="31115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604000" y="5080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14B8A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794500" y="5207000"/>
            <a:ext cx="457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关键洞察：宏观环境塑造薪资天花板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数据表明，地理红利是薪资差异的首要来源。选择高价值的就业市场（如美国、瑞士、新加坡等），其薪资基准线往往是其他地区的数倍，这为职业规划提供了重要的决策依据。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3F4F6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cap="flat" cmpd="sng">
            <a:gradFill rotWithShape="1">
              <a:gsLst>
                <a:gs pos="0">
                  <a:srgbClr val="C4CCDD">
                    <a:alpha val="100000"/>
                  </a:srgbClr>
                </a:gs>
                <a:gs pos="100000">
                  <a:srgbClr val="E6CFCF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cap="flat" cmpd="sng">
            <a:solidFill>
              <a:srgbClr val="019F8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深度分析与建模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高薪 vs. 低薪群体特征对比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我们对比了薪资分布中最低的25%（Q1）与最高的25%（Q4）群体，从经验、技能、证书及综合能力四个关键维度，解析造成薪资差距的核心原因。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0734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工作经验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职业发展的基石</a:t>
            </a:r>
          </a:p>
        </p:txBody>
      </p:sp>
      <p:sp>
        <p:nvSpPr>
          <p:cNvPr id="8" name="AutoShape 8"/>
          <p:cNvSpPr/>
          <p:nvPr/>
        </p:nvSpPr>
        <p:spPr>
          <a:xfrm>
            <a:off x="2667000" y="3111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Q1: 6.62年 ｜ Q4: 13.49年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差距最显著的因子</a:t>
            </a:r>
          </a:p>
        </p:txBody>
      </p:sp>
      <p:sp>
        <p:nvSpPr>
          <p:cNvPr id="9" name="AutoShape 9"/>
          <p:cNvSpPr/>
          <p:nvPr/>
        </p:nvSpPr>
        <p:spPr>
          <a:xfrm>
            <a:off x="46355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2.04×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2921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30734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综合能力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岗位胜任力体现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91500" y="3111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Q1: 4.15分 ｜ Q4: 6.23分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能力值提升明显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1.50×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4069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技能数量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专业技能储备量</a:t>
            </a:r>
          </a:p>
        </p:txBody>
      </p:sp>
      <p:sp>
        <p:nvSpPr>
          <p:cNvPr id="16" name="AutoShape 16"/>
          <p:cNvSpPr/>
          <p:nvPr/>
        </p:nvSpPr>
        <p:spPr>
          <a:xfrm>
            <a:off x="2667000" y="4445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Q1: 5.21项 ｜ Q4: 6.21项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数量差异相对较小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635500" y="4381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1.19×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42545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44069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证书数量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专业资质证明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91500" y="4445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Q1: 1.76个 ｜ Q4: 2.01个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差距最为微弱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160000" y="4381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1.14×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24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14B8A6">
              <a:alpha val="15000"/>
            </a:srgbClr>
          </a:solidFill>
          <a:ln cap="flat" cmpd="sng">
            <a:solidFill>
              <a:srgbClr val="019F8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651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“工作经验的深度积累”是区分薪资阶层的决定性因素，其影响力远超过技能或证书的数量。这表明，职业发展中经验的沉淀与价值转化，比单纯追求“证书数量”或“技能广度”更为关键。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87400"/>
            <a:ext cx="762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结论与展望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06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6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四大核心驱动基石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76500"/>
            <a:ext cx="298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地区、公司规模、岗位类型与学历背景是决定薪资的关键。其中，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地区因素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对薪资差异的解释力最强，是首要影响变量。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0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16500" y="196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经验是核心个人资本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476500"/>
            <a:ext cx="298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工作经验与薪资呈强正相关。数据显示，高薪群体的平均从业年限约为低薪群体的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2倍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，职业积累带来显著的价值回报。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006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196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学历的正向加速效应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2476500"/>
            <a:ext cx="298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学历不仅直接提升起薪，更存在“倍增效应”。高学历人才的薪资随经验增长的速度更快，呈现出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加速增长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的态势。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19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38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“软”因素独立影响有限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48895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在控制了地区、规模等核心变量后，行业属性、远程办公模式以及技能证书数量对薪资的独立解释度极低，并非造成薪资差异的决定性因素。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97600" y="4191000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1976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1600" y="44196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32600" y="438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数据样本的特殊性说明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51600" y="48895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本研究数据集对行业维度进行了特殊的平衡处理以消除样本偏差，这导致分析中呈现出“行业对薪资无显著影响”的结果，该结论与真实市场中存在的行业溢价现象可能存在一定差异。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结论与展望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35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四大核心驱动因素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1016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845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地区、规模、岗位、学历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是决定薪资的关键变量。建议优先布局高薪区域与头部企业，深耕AI/ML等技术赛道，并通过学历提升构建核心壁垒，从而最大化个人职业价值与收入回报。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905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18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2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235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学历差异极显著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9845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数据证实差异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极其显著 (p&lt;0.001)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。KS检验表明各学历薪资分布互不重叠，学历不仅是求职的敲门砖，更是决定薪资起点、涨幅空间及职业天花板的核心要素。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74000" y="1905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874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0" y="222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235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经验是最大分水岭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28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28000" y="29845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经验带来的薪资差距高达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2.04倍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，远超技能证书的影响。这表明，持续积累行业实战经验与项目深度，是跨越薪资阶层、跻身高薪群体的最核心路径。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52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行动建议：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把握“赛道选择、学历提升、经验积累”的黄金三角逻辑。不仅要重视技能的广度，更要深耕行业经验的厚度，在关键变量上持续投入，方能实现职业生涯的指数级增长。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76200" cy="50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结论与展望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实验局限性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226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2984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数据真实性偏差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数据集偏向教学合成数据，分类变量分布过于均衡，行业薪资差异为零，与真实市场的复杂性和随机性存在明显差距。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005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22400" y="3962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关键特征变量缺失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模型未纳入工作城市、公司融资阶段、个人绩效评级等关键变量，导致对薪资影响因素的捕捉不够全面。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978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22400" y="49403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分析深度有待挖掘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目前仅探索了基础线性关系，尚未深入挖掘特征间的非线性关联及高阶交互效应，模型解释力仍有提升空间。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841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14B8A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未来改进方向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984500"/>
            <a:ext cx="2387600" cy="1397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31496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59600" y="3111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引入真实数据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采集招聘平台真实样本，还原行业薪资差异与分布规律，提升模型泛化性。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15400" y="2984500"/>
            <a:ext cx="2387600" cy="1397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7800" y="31496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398000" y="3111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丰富特征维度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补充技术栈、公司规模、岗位职级等细节，构建更全面的薪资预测特征体系。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445000"/>
            <a:ext cx="2387600" cy="1397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46101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59600" y="45720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升级模型算法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尝试XGBoost、LightGBM等集成学习模型，捕捉更复杂的数据模式与非线性关系。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15400" y="4445000"/>
            <a:ext cx="2387600" cy="1397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46101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398000" y="45720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挖掘交互效应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深入探索学历、经验与行业等特征间的交互影响，进一步优化模型预测精度。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76200" cy="762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cap="flat" cmpd="sng">
            <a:solidFill>
              <a:srgbClr val="019F8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79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31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975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欢迎提出您的问题与见解，我们一同探讨交流，共促成长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0" y="5461000"/>
            <a:ext cx="812800" cy="812800"/>
          </a:xfrm>
          <a:prstGeom prst="ellipse">
            <a:avLst/>
          </a:prstGeom>
          <a:solidFill>
            <a:srgbClr val="14B8A6">
              <a:alpha val="15000"/>
            </a:srgbClr>
          </a:solidFill>
          <a:ln cap="flat" cmpd="sng">
            <a:solidFill>
              <a:srgbClr val="019F8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1781</Words>
  <Application>Microsoft Office PowerPoint</Application>
  <PresentationFormat>宽屏</PresentationFormat>
  <Paragraphs>264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FIXED-TERM CAO Yiran (XC-AS/EDM5-CN)</cp:lastModifiedBy>
  <cp:revision>1</cp:revision>
  <dcterms:modified xsi:type="dcterms:W3CDTF">2026-07-13T08:43:41Z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{"Label":"1","ContentProducer":"001191110102MACQD9K64010000","ProduceID":"7661929619956976601","ReservedCode1":"","ContentPropagator":"","PropagateID":"","ReservedCode2":""}</vt:lpwstr>
  </property>
</Properties>
</file>